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/>
    <a:lvl1pPr marL="0" indent="0">
      <a:defRPr sz="1800"/>
    </a:lvl1pPr>
    <a:lvl2pPr marL="457200" indent="0">
      <a:defRPr sz="1600"/>
    </a:lvl2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/>
      </a:lvl1pPr>
    </p:titleStyle>
    <p:bodyStyle>
      <a:lvl1pPr marL="0" indent="0">
        <a:defRPr sz="1800"/>
      </a:lvl1pPr>
      <a:lvl2pPr marL="457200" indent="0">
        <a:defRPr sz="1600"/>
      </a:lvl2pPr>
    </p:bodyStyle>
    <p:otherStyle>
      <a:lvl1pPr>
        <a:defRPr sz="16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 b="1"/>
              <a:t>1) Opening (1 min)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Scaling Test Automation: From Framework to Platform</a:t>
            </a:r>
            <a:endParaRPr lang="en-US" sz="1800"/>
          </a:p>
          <a:p>
            <a:endParaRPr lang="en-US" sz="1800"/>
          </a:p>
          <a:p>
            <a:r>
              <a:rPr lang="en-US" sz="1800"/>
              <a:t>- Goal: show why frameworks alone stop scaling</a:t>
            </a:r>
            <a:endParaRPr lang="en-US" sz="1800"/>
          </a:p>
          <a:p>
            <a:r>
              <a:rPr lang="en-US" sz="1800"/>
              <a:t>- Approach: treat automation as shared platform infrastructure</a:t>
            </a:r>
            <a:endParaRPr lang="en-US" sz="1800"/>
          </a:p>
          <a:p>
            <a:r>
              <a:rPr lang="en-US" sz="1800"/>
              <a:t>- Demo: this repository (test-automation-platform)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 b="1"/>
              <a:t>2) Run of Show (1 min)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- Problem at scale</a:t>
            </a:r>
            <a:endParaRPr lang="en-US" sz="1800"/>
          </a:p>
          <a:p>
            <a:r>
              <a:rPr lang="en-US" sz="1800"/>
              <a:t>- Framework vs platform</a:t>
            </a:r>
            <a:endParaRPr lang="en-US" sz="1800"/>
          </a:p>
          <a:p>
            <a:r>
              <a:rPr lang="en-US" sz="1800"/>
              <a:t>- Why move now</a:t>
            </a:r>
            <a:endParaRPr lang="en-US" sz="1800"/>
          </a:p>
          <a:p>
            <a:r>
              <a:rPr lang="en-US" sz="1800"/>
              <a:t>- Architecture walkthrough (this project)</a:t>
            </a:r>
            <a:endParaRPr lang="en-US" sz="1800"/>
          </a:p>
          <a:p>
            <a:r>
              <a:rPr lang="en-US" sz="1800"/>
              <a:t>- Demo</a:t>
            </a:r>
            <a:endParaRPr lang="en-US" sz="1800"/>
          </a:p>
          <a:p>
            <a:r>
              <a:rPr lang="en-US" sz="1800"/>
              <a:t>- Trade-offs and adoption plan</a:t>
            </a:r>
            <a:endParaRPr lang="en-US" sz="1800"/>
          </a:p>
          <a:p>
            <a:r>
              <a:rPr lang="en-US" sz="1800"/>
              <a:t>- Q&amp;A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 b="1"/>
              <a:t>3) The Scaling Problem (3 min)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When teams scale with only framework thinking:</a:t>
            </a:r>
            <a:endParaRPr lang="en-US" sz="1800"/>
          </a:p>
          <a:p>
            <a:endParaRPr lang="en-US" sz="1800"/>
          </a:p>
          <a:p>
            <a:r>
              <a:rPr lang="en-US" sz="1800"/>
              <a:t>- Test execution slows as suites and environments grow</a:t>
            </a:r>
            <a:endParaRPr lang="en-US" sz="1800"/>
          </a:p>
          <a:p>
            <a:r>
              <a:rPr lang="en-US" sz="1800"/>
              <a:t>- Flaky behavior hides inside team-local pipelines</a:t>
            </a:r>
            <a:endParaRPr lang="en-US" sz="1800"/>
          </a:p>
          <a:p>
            <a:r>
              <a:rPr lang="en-US" sz="1800"/>
              <a:t>- Reporting fragments across JUnit/TestNG/Cucumber/Playwright outputs</a:t>
            </a:r>
            <a:endParaRPr lang="en-US" sz="1800"/>
          </a:p>
          <a:p>
            <a:r>
              <a:rPr lang="en-US" sz="1800"/>
              <a:t>- Failure triage becomes manual and repetitive</a:t>
            </a:r>
            <a:endParaRPr lang="en-US" sz="1800"/>
          </a:p>
          <a:p>
            <a:r>
              <a:rPr lang="en-US" sz="1800"/>
              <a:t>- Release risk is unclear at org level</a:t>
            </a:r>
            <a:endParaRPr lang="en-US" sz="1800"/>
          </a:p>
          <a:p>
            <a:endParaRPr lang="en-US" sz="1800"/>
          </a:p>
          <a:p>
            <a:r>
              <a:rPr lang="en-US" sz="1800"/>
              <a:t>Key point: local optimization at team level creates global blind spots.</a:t>
            </a:r>
            <a:endParaRPr 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 b="1"/>
              <a:t>4) Framework vs Platform (4 min)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Dimension | Test Automation Framework | Test Automation Platform</a:t>
            </a:r>
            <a:endParaRPr lang="en-US" sz="1800"/>
          </a:p>
          <a:p>
            <a:endParaRPr lang="en-US" sz="1800"/>
          </a:p>
          <a:p>
            <a:r>
              <a:rPr lang="en-US" sz="1800"/>
              <a:t>Primary goal | Help a team write/run tests | Provide org-wide quality intelligence</a:t>
            </a:r>
            <a:endParaRPr lang="en-US" sz="1800"/>
          </a:p>
          <a:p>
            <a:r>
              <a:rPr lang="en-US" sz="1800"/>
              <a:t>Scope | Test code, runner, assertions, utilities | Ingestion, storage, analytics,</a:t>
            </a:r>
            <a:endParaRPr lang="en-US" sz="1800"/>
          </a:p>
          <a:p>
            <a:r>
              <a:rPr lang="en-US" sz="1800"/>
              <a:t>AI, integrations, observability</a:t>
            </a:r>
            <a:endParaRPr lang="en-US" sz="1800"/>
          </a:p>
          <a:p>
            <a:r>
              <a:rPr lang="en-US" sz="1800"/>
              <a:t>Ownership | Usually one team | Shared service model across teams</a:t>
            </a:r>
            <a:endParaRPr lang="en-US" sz="1800"/>
          </a:p>
          <a:p>
            <a:r>
              <a:rPr lang="en-US" sz="1800"/>
              <a:t>Data model | Per-suite/per-tool format | Unified cross-framework schema</a:t>
            </a:r>
            <a:endParaRPr lang="en-US" sz="1800"/>
          </a:p>
          <a:p>
            <a:r>
              <a:rPr lang="en-US" sz="1800"/>
              <a:t>Output | Pass/fail per run | Trends, flakiness, alerts, ticket lifecycle</a:t>
            </a:r>
            <a:endParaRPr lang="en-US" sz="1800"/>
          </a:p>
          <a:p>
            <a:r>
              <a:rPr lang="en-US" sz="1800"/>
              <a:t>Failure handling | Manual | Automated classification + workflow</a:t>
            </a:r>
            <a:endParaRPr lang="en-US" sz="1800"/>
          </a:p>
          <a:p>
            <a:endParaRPr lang="en-US" sz="1800"/>
          </a:p>
          <a:p>
            <a:r>
              <a:rPr lang="en-US" sz="1800"/>
              <a:t>In this repo:</a:t>
            </a:r>
            <a:endParaRPr lang="en-US" sz="1800"/>
          </a:p>
          <a:p>
            <a:r>
              <a:rPr lang="en-US" sz="1800"/>
              <a:t>- Framework: platform-testframework</a:t>
            </a:r>
            <a:endParaRPr lang="en-US" sz="1800"/>
          </a:p>
          <a:p>
            <a:r>
              <a:rPr lang="en-US" sz="1800"/>
              <a:t>- Platform entry SDK: platform-sdk</a:t>
            </a:r>
            <a:endParaRPr lang="en-US" sz="1800"/>
          </a:p>
          <a:p>
            <a:r>
              <a:rPr lang="en-US" sz="1800"/>
              <a:t>- Platform services: platform-ingestion, platform-analytics, platform-ai,</a:t>
            </a:r>
            <a:endParaRPr lang="en-US" sz="1800"/>
          </a:p>
          <a:p>
            <a:r>
              <a:rPr lang="en-US" sz="1800"/>
              <a:t>platform-integration</a:t>
            </a:r>
            <a:endParaRPr 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 b="1"/>
              <a:t>5) Why Move On (3 min)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You outgrow framework-only mode when:</a:t>
            </a:r>
            <a:endParaRPr lang="en-US" sz="1800"/>
          </a:p>
          <a:p>
            <a:endParaRPr lang="en-US" sz="1800"/>
          </a:p>
          <a:p>
            <a:r>
              <a:rPr lang="en-US" sz="1800"/>
              <a:t>- Multiple teams use different stacks</a:t>
            </a:r>
            <a:endParaRPr lang="en-US" sz="1800"/>
          </a:p>
          <a:p>
            <a:r>
              <a:rPr lang="en-US" sz="1800"/>
              <a:t>- CI runtime and rerun costs climb</a:t>
            </a:r>
            <a:endParaRPr lang="en-US" sz="1800"/>
          </a:p>
          <a:p>
            <a:r>
              <a:rPr lang="en-US" sz="1800"/>
              <a:t>- Flaky tests block merges frequently</a:t>
            </a:r>
            <a:endParaRPr lang="en-US" sz="1800"/>
          </a:p>
          <a:p>
            <a:r>
              <a:rPr lang="en-US" sz="1800"/>
              <a:t>- MTTR for test failures is high</a:t>
            </a:r>
            <a:endParaRPr lang="en-US" sz="1800"/>
          </a:p>
          <a:p>
            <a:r>
              <a:rPr lang="en-US" sz="1800"/>
              <a:t>- Leadership asks for release-quality signals, not just test logs</a:t>
            </a:r>
            <a:endParaRPr lang="en-US" sz="1800"/>
          </a:p>
          <a:p>
            <a:endParaRPr lang="en-US" sz="1800"/>
          </a:p>
          <a:p>
            <a:r>
              <a:rPr lang="en-US" sz="1800"/>
              <a:t>Business shift:</a:t>
            </a:r>
            <a:endParaRPr lang="en-US" sz="1800"/>
          </a:p>
          <a:p>
            <a:r>
              <a:rPr lang="en-US" sz="1800"/>
              <a:t>- From "Can this team run tests?" to "Can the organization trust quality signals?"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 b="1"/>
              <a:t>6) Platform Contains the Framework (3 min)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The framework does not disappear. It becomes one layer of the platform.</a:t>
            </a:r>
            <a:endParaRPr lang="en-US" sz="1800"/>
          </a:p>
          <a:p>
            <a:endParaRPr lang="en-US" sz="1800"/>
          </a:p>
          <a:p>
            <a:r>
              <a:rPr lang="en-US" sz="1800"/>
              <a:t>Platform = Framework + Data + Workflow + Observability + Intelligence</a:t>
            </a:r>
            <a:endParaRPr lang="en-US" sz="1800"/>
          </a:p>
          <a:p>
            <a:endParaRPr lang="en-US" sz="1800"/>
          </a:p>
          <a:p>
            <a:r>
              <a:rPr lang="en-US" sz="1800"/>
              <a:t>Framework layer (in this repo):</a:t>
            </a:r>
            <a:endParaRPr lang="en-US" sz="1800"/>
          </a:p>
          <a:p>
            <a:r>
              <a:rPr lang="en-US" sz="1800"/>
              <a:t>- platform-testframework: base test abstractions, Cucumber plugin, retry, context</a:t>
            </a:r>
            <a:endParaRPr lang="en-US" sz="1800"/>
          </a:p>
          <a:p>
            <a:r>
              <a:rPr lang="en-US" sz="1800"/>
              <a:t>- platform-sdk: framework adapters/publisher to ingestion API</a:t>
            </a:r>
            <a:endParaRPr lang="en-US" sz="1800"/>
          </a:p>
          <a:p>
            <a:endParaRPr lang="en-US" sz="1800"/>
          </a:p>
          <a:p>
            <a:r>
              <a:rPr lang="en-US" sz="1800"/>
              <a:t>Code anchor:</a:t>
            </a:r>
            <a:endParaRPr lang="en-US" sz="1800"/>
          </a:p>
          <a:p>
            <a:r>
              <a:rPr lang="en-US" sz="1800"/>
              <a:t>- platform-testframework/src/main/java/.../PlatformBaseTest.java</a:t>
            </a:r>
            <a:endParaRPr lang="en-US" sz="1800"/>
          </a:p>
          <a:p>
            <a:r>
              <a:rPr lang="en-US" sz="1800"/>
              <a:t>- platform-sdk/src/main/java/.../PlatformReporter.java</a:t>
            </a:r>
            <a:endParaRPr 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 b="1"/>
              <a:t>7) High-Level Architecture (5 min)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flowchart LR</a:t>
            </a:r>
            <a:endParaRPr lang="en-US" sz="1800"/>
          </a:p>
          <a:p>
            <a:r>
              <a:rPr lang="en-US" sz="1800"/>
              <a:t>subgraph Teams["Team Test Suites"]</a:t>
            </a:r>
            <a:endParaRPr lang="en-US" sz="1800"/>
          </a:p>
          <a:p>
            <a:r>
              <a:rPr lang="en-US" sz="1800"/>
              <a:t>A["JUnit/TestNG/Cucumber/Playwright tests"]</a:t>
            </a:r>
            <a:endParaRPr lang="en-US" sz="1800"/>
          </a:p>
          <a:p>
            <a:r>
              <a:rPr lang="en-US" sz="1800"/>
              <a:t>end</a:t>
            </a:r>
            <a:endParaRPr lang="en-US" sz="1800"/>
          </a:p>
          <a:p>
            <a:endParaRPr lang="en-US" sz="1800"/>
          </a:p>
          <a:p>
            <a:r>
              <a:rPr lang="en-US" sz="1800"/>
              <a:t>subgraph PX["Platform Experience Layer"]</a:t>
            </a:r>
            <a:endParaRPr lang="en-US" sz="1800"/>
          </a:p>
          <a:p>
            <a:r>
              <a:rPr lang="en-US" sz="1800"/>
              <a:t>F["platform-testframework"]</a:t>
            </a:r>
            <a:endParaRPr lang="en-US" sz="1800"/>
          </a:p>
          <a:p>
            <a:r>
              <a:rPr lang="en-US" sz="1800"/>
              <a:t>S["platform-sdk"]</a:t>
            </a:r>
            <a:endParaRPr lang="en-US" sz="1800"/>
          </a:p>
          <a:p>
            <a:r>
              <a:rPr lang="en-US" sz="1800"/>
              <a:t>end</a:t>
            </a:r>
            <a:endParaRPr lang="en-US" sz="1800"/>
          </a:p>
          <a:p>
            <a:endParaRPr lang="en-US" sz="1800"/>
          </a:p>
          <a:p>
            <a:r>
              <a:rPr lang="en-US" sz="1800"/>
              <a:t>subgraph Ingest["Ingestion Layer"]</a:t>
            </a:r>
            <a:endParaRPr lang="en-US" sz="1800"/>
          </a:p>
          <a:p>
            <a:r>
              <a:rPr lang="en-US" sz="1800"/>
              <a:t>I["platform-ingestion\nPOST /api/v1/results/ingest"]</a:t>
            </a:r>
            <a:endParaRPr lang="en-US" sz="1800"/>
          </a:p>
          <a:p>
            <a:r>
              <a:rPr lang="en-US" sz="1800"/>
              <a:t>P["Parsers\nJUnit/Cucumber/TestNG/Allure/Playwright/Newman/Native"]</a:t>
            </a:r>
            <a:endParaRPr lang="en-US" sz="1800"/>
          </a:p>
          <a:p>
            <a:r>
              <a:rPr lang="en-US" sz="1800"/>
              <a:t>end</a:t>
            </a:r>
            <a:endParaRPr lang="en-US" sz="1800"/>
          </a:p>
          <a:p>
            <a:endParaRPr lang="en-US" sz="1800"/>
          </a:p>
          <a:p>
            <a:r>
              <a:rPr lang="en-US" sz="1800"/>
              <a:t>subgraph Data["Core Data Layer"]</a:t>
            </a:r>
            <a:endParaRPr lang="en-US" sz="1800"/>
          </a:p>
          <a:p>
            <a:r>
              <a:rPr lang="en-US" sz="1800"/>
              <a:t>PG["PostgreSQL"]</a:t>
            </a:r>
            <a:endParaRPr lang="en-US" sz="1800"/>
          </a:p>
          <a:p>
            <a:r>
              <a:rPr lang="en-US" sz="1800"/>
              <a:t>OS["OpenSearch"]</a:t>
            </a:r>
            <a:endParaRPr lang="en-US" sz="1800"/>
          </a:p>
          <a:p>
            <a:r>
              <a:rPr lang="en-US" sz="1800"/>
              <a:t>K["Kafka topics\n test.results.raw, ..."]</a:t>
            </a:r>
            <a:endParaRPr lang="en-US" sz="1800"/>
          </a:p>
          <a:p>
            <a:r>
              <a:rPr lang="en-US" sz="1800"/>
              <a:t>R["Redis"]</a:t>
            </a:r>
            <a:endParaRPr lang="en-US" sz="1800"/>
          </a:p>
          <a:p>
            <a:r>
              <a:rPr lang="en-US" sz="1800"/>
              <a:t>end</a:t>
            </a:r>
            <a:endParaRPr lang="en-US" sz="1800"/>
          </a:p>
          <a:p>
            <a:endParaRPr 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 b="1"/>
              <a:t>8) Event and Intelligence Flow (4 min)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- Tests publish native/file-based results to ingestion</a:t>
            </a:r>
            <a:endParaRPr lang="en-US" sz="1800"/>
          </a:p>
          <a:p>
            <a:r>
              <a:rPr lang="en-US" sz="1800"/>
              <a:t>- Ingestion normalizes to UnifiedTestResult</a:t>
            </a:r>
            <a:endParaRPr lang="en-US" sz="1800"/>
          </a:p>
          <a:p>
            <a:r>
              <a:rPr lang="en-US" sz="1800"/>
              <a:t>- Persist to PostgreSQL + OpenSearch</a:t>
            </a:r>
            <a:endParaRPr lang="en-US" sz="1800"/>
          </a:p>
          <a:p>
            <a:r>
              <a:rPr lang="en-US" sz="1800"/>
              <a:t>- Publish Kafka event (test.results.raw)</a:t>
            </a:r>
            <a:endParaRPr lang="en-US" sz="1800"/>
          </a:p>
          <a:p>
            <a:r>
              <a:rPr lang="en-US" sz="1800"/>
              <a:t>- Consumers:</a:t>
            </a:r>
            <a:endParaRPr lang="en-US" sz="1800"/>
          </a:p>
          <a:p>
            <a:r>
              <a:rPr lang="en-US" sz="1800"/>
              <a:t>- Analytics: flakiness scoring + quality gates + alerts</a:t>
            </a:r>
            <a:endParaRPr lang="en-US" sz="1800"/>
          </a:p>
          <a:p>
            <a:r>
              <a:rPr lang="en-US" sz="1800"/>
              <a:t>- AI: optional real-time classification (cost-controlled by config)</a:t>
            </a:r>
            <a:endParaRPr lang="en-US" sz="1800"/>
          </a:p>
          <a:p>
            <a:r>
              <a:rPr lang="en-US" sz="1800"/>
              <a:t>- Integration: create/update/close/reopen Jira tickets</a:t>
            </a:r>
            <a:endParaRPr lang="en-US" sz="1800"/>
          </a:p>
          <a:p>
            <a:endParaRPr lang="en-US" sz="1800"/>
          </a:p>
          <a:p>
            <a:r>
              <a:rPr lang="en-US" sz="1800"/>
              <a:t>Code anchors:</a:t>
            </a:r>
            <a:endParaRPr lang="en-US" sz="1800"/>
          </a:p>
          <a:p>
            <a:r>
              <a:rPr lang="en-US" sz="1800"/>
              <a:t>- platform-ingestion/src/main/java/.../ResultIngestionService.java</a:t>
            </a:r>
            <a:endParaRPr lang="en-US" sz="1800"/>
          </a:p>
          <a:p>
            <a:r>
              <a:rPr lang="en-US" sz="1800"/>
              <a:t>- platform-analytics/src/main/java/.../ResultAnalysisConsumer.java</a:t>
            </a:r>
            <a:endParaRPr lang="en-US" sz="1800"/>
          </a:p>
          <a:p>
            <a:r>
              <a:rPr lang="en-US" sz="1800"/>
              <a:t>- platform-ai/src/main/java/.../AnalysisEventConsumer.java</a:t>
            </a:r>
            <a:endParaRPr lang="en-US" sz="1800"/>
          </a:p>
          <a:p>
            <a:r>
              <a:rPr lang="en-US" sz="1800"/>
              <a:t>- platform-integration/src/main/java/.../TicketLifecycleManager.java</a:t>
            </a:r>
            <a:endParaRPr 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 b="1"/>
              <a:t>9) AI: Where It Helps vs Hurts (3 min)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Where AI accelerates:</a:t>
            </a:r>
            <a:endParaRPr lang="en-US" sz="1800"/>
          </a:p>
          <a:p>
            <a:r>
              <a:rPr lang="en-US" sz="1800"/>
              <a:t>- Faster failure categorization and suggested fixes</a:t>
            </a:r>
            <a:endParaRPr lang="en-US" sz="1800"/>
          </a:p>
          <a:p>
            <a:r>
              <a:rPr lang="en-US" sz="1800"/>
              <a:t>- Pattern grouping across repeated incidents</a:t>
            </a:r>
            <a:endParaRPr lang="en-US" sz="1800"/>
          </a:p>
          <a:p>
            <a:r>
              <a:rPr lang="en-US" sz="1800"/>
              <a:t>- Triage support for large failure volumes</a:t>
            </a:r>
            <a:endParaRPr lang="en-US" sz="1800"/>
          </a:p>
          <a:p>
            <a:endParaRPr lang="en-US" sz="1800"/>
          </a:p>
          <a:p>
            <a:r>
              <a:rPr lang="en-US" sz="1800"/>
              <a:t>Where AI can hurt:</a:t>
            </a:r>
            <a:endParaRPr lang="en-US" sz="1800"/>
          </a:p>
          <a:p>
            <a:r>
              <a:rPr lang="en-US" sz="1800"/>
              <a:t>- Cost spikes on every failed test</a:t>
            </a:r>
            <a:endParaRPr lang="en-US" sz="1800"/>
          </a:p>
          <a:p>
            <a:r>
              <a:rPr lang="en-US" sz="1800"/>
              <a:t>- Hallucinated root cause</a:t>
            </a:r>
            <a:endParaRPr lang="en-US" sz="1800"/>
          </a:p>
          <a:p>
            <a:r>
              <a:rPr lang="en-US" sz="1800"/>
              <a:t>- False confidence in low-signal failures</a:t>
            </a:r>
            <a:endParaRPr lang="en-US" sz="1800"/>
          </a:p>
          <a:p>
            <a:endParaRPr lang="en-US" sz="1800"/>
          </a:p>
          <a:p>
            <a:r>
              <a:rPr lang="en-US" sz="1800"/>
              <a:t>Guardrails in this repo:</a:t>
            </a:r>
            <a:endParaRPr lang="en-US" sz="1800"/>
          </a:p>
          <a:p>
            <a:r>
              <a:rPr lang="en-US" sz="1800"/>
              <a:t>- Real-time analysis toggle (ai.realtime.enabled)</a:t>
            </a:r>
            <a:endParaRPr lang="en-US" sz="1800"/>
          </a:p>
          <a:p>
            <a:r>
              <a:rPr lang="en-US" sz="1800"/>
              <a:t>- Compact prompts with capped stack/history</a:t>
            </a:r>
            <a:endParaRPr lang="en-US" sz="1800"/>
          </a:p>
          <a:p>
            <a:r>
              <a:rPr lang="en-US" sz="1800"/>
              <a:t>- Idempotent persistence to avoid duplicate analysis</a:t>
            </a:r>
            <a:endParaRPr 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 b="1"/>
              <a:t>10) Demo Plan (35-minute talk final 5 min)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Demo goal: prove framework-in-platform flow end to end using this repo.</a:t>
            </a:r>
            <a:endParaRPr lang="en-US" sz="1800"/>
          </a:p>
          <a:p>
            <a:endParaRPr lang="en-US" sz="1800"/>
          </a:p>
          <a:p>
            <a:r>
              <a:rPr lang="en-US" sz="1800"/>
              <a:t>### Setup</a:t>
            </a:r>
            <a:endParaRPr lang="en-US" sz="1800"/>
          </a:p>
          <a:p>
            <a:r>
              <a:rPr lang="en-US" sz="1800"/>
              <a:t>mvn install -DskipTests</a:t>
            </a:r>
            <a:endParaRPr lang="en-US" sz="1800"/>
          </a:p>
          <a:p>
            <a:r>
              <a:rPr lang="en-US" sz="1800"/>
              <a:t>docker compose up -d</a:t>
            </a:r>
            <a:endParaRPr lang="en-US" sz="1800"/>
          </a:p>
          <a:p>
            <a:r>
              <a:rPr lang="en-US" sz="1800"/>
              <a:t>docker compose --profile services up -d platform-ingestion platform-analytics</a:t>
            </a:r>
            <a:endParaRPr lang="en-US" sz="1800"/>
          </a:p>
          <a:p>
            <a:r>
              <a:rPr lang="en-US" sz="1800"/>
              <a:t>platform-integration platform-ai</a:t>
            </a:r>
            <a:endParaRPr lang="en-US" sz="1800"/>
          </a:p>
          <a:p>
            <a:r>
              <a:rPr lang="en-US" sz="1800"/>
              <a:t>curl -s http://localhost:8081/actuator/health</a:t>
            </a:r>
            <a:endParaRPr lang="en-US" sz="1800"/>
          </a:p>
          <a:p>
            <a:endParaRPr lang="en-US" sz="1800"/>
          </a:p>
          <a:p>
            <a:r>
              <a:rPr lang="en-US" sz="1800"/>
              <a:t>### Run tests (framework + SDK publishing)</a:t>
            </a:r>
            <a:endParaRPr lang="en-US" sz="1800"/>
          </a:p>
          <a:p>
            <a:r>
              <a:rPr lang="en-US" sz="1800"/>
              <a:t>mvn test -pl saucedemo-tests</a:t>
            </a:r>
            <a:endParaRPr lang="en-US" sz="1800"/>
          </a:p>
          <a:p>
            <a:endParaRPr lang="en-US" sz="1800"/>
          </a:p>
          <a:p>
            <a:r>
              <a:rPr lang="en-US" sz="1800"/>
              <a:t>Expected artifact:</a:t>
            </a:r>
            <a:endParaRPr lang="en-US" sz="1800"/>
          </a:p>
          <a:p>
            <a:r>
              <a:rPr lang="en-US" sz="1800"/>
              <a:t>- saucedemo-tests/target/surefire-reports/... shows 13 tests run</a:t>
            </a:r>
            <a:endParaRPr lang="en-US" sz="1800"/>
          </a:p>
          <a:p>
            <a:r>
              <a:rPr lang="en-US" sz="1800"/>
              <a:t>- Logs show [Platform SDK] Native result published</a:t>
            </a:r>
            <a:endParaRPr lang="en-US" sz="1800"/>
          </a:p>
          <a:p>
            <a:endParaRPr lang="en-US" sz="1800"/>
          </a:p>
          <a:p>
            <a:r>
              <a:rPr lang="en-US" sz="1800"/>
              <a:t>### Verify platform persistence</a:t>
            </a:r>
            <a:endParaRPr lang="en-US" sz="1800"/>
          </a:p>
          <a:p>
            <a:r>
              <a:rPr lang="en-US" sz="1800"/>
              <a:t>docker exec platform-postgres psql -U platform -d platform -c \</a:t>
            </a:r>
            <a:endParaRPr lang="en-US" sz="1800"/>
          </a:p>
          <a:p>
            <a:r>
              <a:rPr lang="en-US" sz="1800"/>
              <a:t>"SELECT count(*) AS executions FROM test_executions;</a:t>
            </a:r>
            <a:endParaRPr lang="en-US" sz="1800"/>
          </a:p>
          <a:p>
            <a:r>
              <a:rPr lang="en-US" sz="1800"/>
              <a:t>SELECT count(*) AS results FROM test_case_results;"</a:t>
            </a:r>
            <a:endParaRPr lang="en-US" sz="1800"/>
          </a:p>
          <a:p>
            <a:endParaRPr lang="en-US" sz="1800"/>
          </a:p>
          <a:p>
            <a:r>
              <a:rPr lang="en-US" sz="1800"/>
              <a:t>### Show observabil...</a:t>
            </a:r>
            <a:endParaRPr 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 b="1"/>
              <a:t>11) Trade-offs and Design Choices (1 min)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- Synchronous ingest + async analytics via Kafka</a:t>
            </a:r>
            <a:endParaRPr lang="en-US" sz="1800"/>
          </a:p>
          <a:p>
            <a:r>
              <a:rPr lang="en-US" sz="1800"/>
              <a:t>- Pro: decoupled scaling</a:t>
            </a:r>
            <a:endParaRPr lang="en-US" sz="1800"/>
          </a:p>
          <a:p>
            <a:r>
              <a:rPr lang="en-US" sz="1800"/>
              <a:t>- Con: eventual consistency across views</a:t>
            </a:r>
            <a:endParaRPr lang="en-US" sz="1800"/>
          </a:p>
          <a:p>
            <a:r>
              <a:rPr lang="en-US" sz="1800"/>
              <a:t>- Multi-store persistence (Postgres + OpenSearch + Redis)</a:t>
            </a:r>
            <a:endParaRPr lang="en-US" sz="1800"/>
          </a:p>
          <a:p>
            <a:r>
              <a:rPr lang="en-US" sz="1800"/>
              <a:t>- Pro: right tool per workload</a:t>
            </a:r>
            <a:endParaRPr lang="en-US" sz="1800"/>
          </a:p>
          <a:p>
            <a:r>
              <a:rPr lang="en-US" sz="1800"/>
              <a:t>- Con: operational complexity</a:t>
            </a:r>
            <a:endParaRPr lang="en-US" sz="1800"/>
          </a:p>
          <a:p>
            <a:r>
              <a:rPr lang="en-US" sz="1800"/>
              <a:t>- Framework-agnostic parsers + native SDK mode</a:t>
            </a:r>
            <a:endParaRPr lang="en-US" sz="1800"/>
          </a:p>
          <a:p>
            <a:r>
              <a:rPr lang="en-US" sz="1800"/>
              <a:t>- Pro: low adoption friction</a:t>
            </a:r>
            <a:endParaRPr lang="en-US" sz="1800"/>
          </a:p>
          <a:p>
            <a:r>
              <a:rPr lang="en-US" sz="1800"/>
              <a:t>- Con: schema/version governance required</a:t>
            </a:r>
            <a:endParaRPr 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 b="1"/>
              <a:t>12) Practical Migration Path (1 min)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- Start by standardizing result ingestion schema</a:t>
            </a:r>
            <a:endParaRPr lang="en-US" sz="1800"/>
          </a:p>
          <a:p>
            <a:r>
              <a:rPr lang="en-US" sz="1800"/>
              <a:t>- Add centralized dashboards and alerting</a:t>
            </a:r>
            <a:endParaRPr lang="en-US" sz="1800"/>
          </a:p>
          <a:p>
            <a:r>
              <a:rPr lang="en-US" sz="1800"/>
              <a:t>- Add flakiness scoring + quality gates</a:t>
            </a:r>
            <a:endParaRPr lang="en-US" sz="1800"/>
          </a:p>
          <a:p>
            <a:r>
              <a:rPr lang="en-US" sz="1800"/>
              <a:t>- Integrate issue lifecycle automation</a:t>
            </a:r>
            <a:endParaRPr lang="en-US" sz="1800"/>
          </a:p>
          <a:p>
            <a:r>
              <a:rPr lang="en-US" sz="1800"/>
              <a:t>- Add AI analysis with strict guardrails</a:t>
            </a:r>
            <a:endParaRPr lang="en-US" sz="1800"/>
          </a:p>
          <a:p>
            <a:endParaRPr lang="en-US" sz="1800"/>
          </a:p>
          <a:p>
            <a:r>
              <a:rPr lang="en-US" sz="1800"/>
              <a:t>Success criteria:</a:t>
            </a:r>
            <a:endParaRPr lang="en-US" sz="1800"/>
          </a:p>
          <a:p>
            <a:r>
              <a:rPr lang="en-US" sz="1800"/>
              <a:t>- Faster triage, fewer duplicate tickets, stable CI signal quality</a:t>
            </a:r>
            <a:endParaRPr 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 b="1"/>
              <a:t>13) Key Takeaways (1 min)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- Framework is necessary but not sufficient at scale</a:t>
            </a:r>
            <a:endParaRPr lang="en-US" sz="1800"/>
          </a:p>
          <a:p>
            <a:r>
              <a:rPr lang="en-US" sz="1800"/>
              <a:t>- Platform thinking turns tests into organizational quality telemetry</a:t>
            </a:r>
            <a:endParaRPr lang="en-US" sz="1800"/>
          </a:p>
          <a:p>
            <a:r>
              <a:rPr lang="en-US" sz="1800"/>
              <a:t>- Keep your framework; wrap it in shared services and observability</a:t>
            </a:r>
            <a:endParaRPr lang="en-US" sz="1800"/>
          </a:p>
          <a:p>
            <a:r>
              <a:rPr lang="en-US" sz="1800"/>
              <a:t>- This project demonstrates the full path from execution to actionable outcomes</a:t>
            </a:r>
            <a:endParaRPr 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 b="1"/>
              <a:t>14) Q&amp;A (10 min, 08:05 PM - 08:15 PM)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Prompt ideas:</a:t>
            </a:r>
            <a:endParaRPr lang="en-US" sz="1800"/>
          </a:p>
          <a:p>
            <a:r>
              <a:rPr lang="en-US" sz="1800"/>
              <a:t>- What should stay in team frameworks vs platform core?</a:t>
            </a:r>
            <a:endParaRPr lang="en-US" sz="1800"/>
          </a:p>
          <a:p>
            <a:r>
              <a:rPr lang="en-US" sz="1800"/>
              <a:t>- How to phase rollout without slowing delivery?</a:t>
            </a:r>
            <a:endParaRPr lang="en-US" sz="1800"/>
          </a:p>
          <a:p>
            <a:r>
              <a:rPr lang="en-US" sz="1800"/>
              <a:t>- Where should AI be gated by policy/cost?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tint val="50000"/>
            <a:satMod val="30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tint val="50000"/>
            <a:satMod val="30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14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14</vt:i4>
      </vt:variant>
    </vt:vector>
  </HeadingPairs>
  <TitlesOfParts>
    <vt:vector size="14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Scaling Test Automation: From Framework to Platform</dc:title>
  <dc:creator>Codex</dc:creator>
  <cp:lastModifiedBy>Codex</cp:lastModifiedBy>
  <dcterms:created xsi:type="dcterms:W3CDTF">2026-03-09T05:59:44Z</dcterms:created>
  <dcterms:modified xsi:type="dcterms:W3CDTF">2026-03-09T05:59:44Z</dcterms:modified>
</cp:coreProperties>
</file>